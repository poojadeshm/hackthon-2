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Prompt Medium" panose="020B0604020202020204" charset="-34"/>
      <p:regular r:id="rId14"/>
    </p:embeddedFont>
    <p:embeddedFont>
      <p:font typeface="Mukta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491" y="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833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 Today,Save Tommorow.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0C2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91654" y="478408"/>
            <a:ext cx="1630338" cy="295796"/>
          </a:xfrm>
          <a:prstGeom prst="roundRect">
            <a:avLst>
              <a:gd name="adj" fmla="val 17874"/>
            </a:avLst>
          </a:prstGeom>
          <a:solidFill>
            <a:srgbClr val="321A2C"/>
          </a:solidFill>
          <a:ln/>
        </p:spPr>
      </p:sp>
      <p:sp>
        <p:nvSpPr>
          <p:cNvPr id="4" name="Text 1"/>
          <p:cNvSpPr/>
          <p:nvPr/>
        </p:nvSpPr>
        <p:spPr>
          <a:xfrm>
            <a:off x="4363946" y="527201"/>
            <a:ext cx="1485754" cy="201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· ML · SMART MANAGEMENT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79664" y="837084"/>
            <a:ext cx="3953917" cy="437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PredictaShelf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979664" y="1510085"/>
            <a:ext cx="4613672" cy="1809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 Shelf Life Management Using Machine Learning</a:t>
            </a:r>
            <a:endParaRPr lang="en-US" sz="3750" dirty="0"/>
          </a:p>
        </p:txBody>
      </p:sp>
      <p:sp>
        <p:nvSpPr>
          <p:cNvPr id="7" name="Text 4"/>
          <p:cNvSpPr/>
          <p:nvPr/>
        </p:nvSpPr>
        <p:spPr>
          <a:xfrm>
            <a:off x="3979664" y="3555653"/>
            <a:ext cx="4613672" cy="1109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Team Members:   Saniya • Pooja • Vaishnavi • Sudeep • </a:t>
            </a:r>
            <a:r>
              <a:rPr lang="en-US" sz="1200" dirty="0" err="1" smtClean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Montu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•  Rajan</a:t>
            </a:r>
            <a:endParaRPr lang="en-US" sz="1200" dirty="0"/>
          </a:p>
          <a:p>
            <a:pPr marL="0" indent="0" algn="l">
              <a:lnSpc>
                <a:spcPct val="133000"/>
              </a:lnSpc>
              <a:spcAft>
                <a:spcPts val="1350"/>
              </a:spcAft>
              <a:buNone/>
            </a:pPr>
            <a:r>
              <a:rPr lang="en-US" sz="1200" dirty="0" smtClean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Institution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: SYSKRITI 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 smtClean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Guide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: Prof. Shri Singh</a:t>
            </a:r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7474440" y="4860680"/>
            <a:ext cx="1656498" cy="23083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</a:t>
            </a:r>
            <a:r>
              <a:rPr lang="en-US" sz="900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redict today, save Tomorrow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-104503"/>
            <a:ext cx="3429000" cy="538189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74" y="637356"/>
            <a:ext cx="4472657" cy="3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The Problem We're Solving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74" y="1332384"/>
            <a:ext cx="1178570" cy="11785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3474" y="2645494"/>
            <a:ext cx="176673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smtClean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Food </a:t>
            </a:r>
            <a:r>
              <a:rPr lang="en-US" sz="1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Wastage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33474" y="2960340"/>
            <a:ext cx="1309539" cy="1438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About 1.3 billion tonnes of food are wasted every year worldwide (FAO). When expiry dates are not tracked, homes and stores lose billions.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2490" y="1332384"/>
            <a:ext cx="1223442" cy="12234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82490" y="2690366"/>
            <a:ext cx="1359396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smtClean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Health Hazards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2182490" y="3195712"/>
            <a:ext cx="1359396" cy="1027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Expired products can cause serious health problems. People need a smart system to warn them in time.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1363" y="1332384"/>
            <a:ext cx="1178570" cy="1178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881363" y="2645494"/>
            <a:ext cx="130953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 smtClean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No </a:t>
            </a:r>
            <a:r>
              <a:rPr lang="en-US" sz="1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 Tracking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881363" y="3150840"/>
            <a:ext cx="1309539" cy="1027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Traditional inventory systems do not use AI. Manual checks take time and are easy to get wrong.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4917" y="431825"/>
            <a:ext cx="629915" cy="216694"/>
          </a:xfrm>
          <a:prstGeom prst="roundRect">
            <a:avLst>
              <a:gd name="adj" fmla="val 18604"/>
            </a:avLst>
          </a:prstGeom>
          <a:noFill/>
          <a:ln w="4763">
            <a:solidFill>
              <a:srgbClr val="A95B9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1638" y="472529"/>
            <a:ext cx="933673" cy="1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WORKFLOW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4917" y="685056"/>
            <a:ext cx="5296719" cy="333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Our Workflow: From Data to Decision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524917" y="1054819"/>
            <a:ext cx="8094166" cy="5000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Our PredictaShelf system follows a systematic process to deliver accurate shelf life predictions. From gathering raw data to continuously refining our models, each step ensures optimal performance and valuable insights for smart inventory management.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4917" y="1722090"/>
            <a:ext cx="8094166" cy="8930"/>
          </a:xfrm>
          <a:prstGeom prst="rect">
            <a:avLst/>
          </a:prstGeom>
          <a:solidFill>
            <a:srgbClr val="DAD8E9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64856" y="1863923"/>
            <a:ext cx="14288" cy="2847752"/>
          </a:xfrm>
          <a:prstGeom prst="roundRect">
            <a:avLst>
              <a:gd name="adj" fmla="val 352691"/>
            </a:avLst>
          </a:prstGeom>
          <a:solidFill>
            <a:srgbClr val="6D4562"/>
          </a:solidFill>
          <a:ln/>
        </p:spPr>
      </p:sp>
      <p:sp>
        <p:nvSpPr>
          <p:cNvPr id="8" name="Shape 6"/>
          <p:cNvSpPr/>
          <p:nvPr/>
        </p:nvSpPr>
        <p:spPr>
          <a:xfrm>
            <a:off x="4091397" y="1991692"/>
            <a:ext cx="359941" cy="14288"/>
          </a:xfrm>
          <a:prstGeom prst="roundRect">
            <a:avLst>
              <a:gd name="adj" fmla="val 352691"/>
            </a:avLst>
          </a:prstGeom>
          <a:solidFill>
            <a:srgbClr val="A9B3A7"/>
          </a:solidFill>
          <a:ln/>
        </p:spPr>
      </p:sp>
      <p:sp>
        <p:nvSpPr>
          <p:cNvPr id="9" name="Shape 7"/>
          <p:cNvSpPr/>
          <p:nvPr/>
        </p:nvSpPr>
        <p:spPr>
          <a:xfrm>
            <a:off x="4437050" y="1863923"/>
            <a:ext cx="269900" cy="269900"/>
          </a:xfrm>
          <a:prstGeom prst="roundRect">
            <a:avLst>
              <a:gd name="adj" fmla="val 18671"/>
            </a:avLst>
          </a:prstGeom>
          <a:solidFill>
            <a:srgbClr val="C3CDC1"/>
          </a:solidFill>
          <a:ln w="4763">
            <a:solidFill>
              <a:srgbClr val="A9B3A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2004" y="1905149"/>
            <a:ext cx="173645" cy="1736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39020" y="1905149"/>
            <a:ext cx="13331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Data Acquisition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24917" y="2126679"/>
            <a:ext cx="3447231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Collect raw product and environmental data.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92662" y="2654498"/>
            <a:ext cx="359941" cy="14288"/>
          </a:xfrm>
          <a:prstGeom prst="roundRect">
            <a:avLst>
              <a:gd name="adj" fmla="val 352691"/>
            </a:avLst>
          </a:prstGeom>
          <a:solidFill>
            <a:srgbClr val="6D4562"/>
          </a:solidFill>
          <a:ln/>
        </p:spPr>
      </p:sp>
      <p:sp>
        <p:nvSpPr>
          <p:cNvPr id="14" name="Shape 11"/>
          <p:cNvSpPr/>
          <p:nvPr/>
        </p:nvSpPr>
        <p:spPr>
          <a:xfrm>
            <a:off x="4437050" y="2526729"/>
            <a:ext cx="269900" cy="269900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2005" y="2581684"/>
            <a:ext cx="159916" cy="1599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71852" y="2567955"/>
            <a:ext cx="13331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171852" y="2789486"/>
            <a:ext cx="3447231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Clean, </a:t>
            </a: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normalize</a:t>
            </a:r>
            <a:r>
              <a:rPr lang="en-US" sz="9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and feature-engineer inputs.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091397" y="3246462"/>
            <a:ext cx="359941" cy="14288"/>
          </a:xfrm>
          <a:prstGeom prst="roundRect">
            <a:avLst>
              <a:gd name="adj" fmla="val 352691"/>
            </a:avLst>
          </a:prstGeom>
          <a:solidFill>
            <a:srgbClr val="6D4562"/>
          </a:solidFill>
          <a:ln/>
        </p:spPr>
      </p:sp>
      <p:sp>
        <p:nvSpPr>
          <p:cNvPr id="19" name="Shape 15"/>
          <p:cNvSpPr/>
          <p:nvPr/>
        </p:nvSpPr>
        <p:spPr>
          <a:xfrm>
            <a:off x="4437050" y="3069771"/>
            <a:ext cx="265580" cy="335086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2005" y="3173648"/>
            <a:ext cx="159916" cy="1599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39020" y="3159919"/>
            <a:ext cx="13331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24917" y="3381449"/>
            <a:ext cx="3447231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Train predictive models and validate performance.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692662" y="3838426"/>
            <a:ext cx="359941" cy="14288"/>
          </a:xfrm>
          <a:prstGeom prst="roundRect">
            <a:avLst>
              <a:gd name="adj" fmla="val 352691"/>
            </a:avLst>
          </a:prstGeom>
          <a:solidFill>
            <a:srgbClr val="6D4562"/>
          </a:solidFill>
          <a:ln/>
        </p:spPr>
      </p:sp>
      <p:sp>
        <p:nvSpPr>
          <p:cNvPr id="24" name="Shape 19"/>
          <p:cNvSpPr/>
          <p:nvPr/>
        </p:nvSpPr>
        <p:spPr>
          <a:xfrm>
            <a:off x="4437050" y="3710657"/>
            <a:ext cx="269900" cy="269900"/>
          </a:xfrm>
          <a:prstGeom prst="roundRect">
            <a:avLst>
              <a:gd name="adj" fmla="val 18671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2005" y="3765612"/>
            <a:ext cx="159916" cy="15991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71852" y="3751883"/>
            <a:ext cx="169329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Deployment &amp; Monitoring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171852" y="3973413"/>
            <a:ext cx="3447231" cy="1690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Integrate models and continuously monitor accuracy.</a:t>
            </a:r>
            <a:endParaRPr lang="en-US" sz="1100" dirty="0"/>
          </a:p>
        </p:txBody>
      </p:sp>
      <p:sp>
        <p:nvSpPr>
          <p:cNvPr id="28" name="Rectangle 27"/>
          <p:cNvSpPr/>
          <p:nvPr/>
        </p:nvSpPr>
        <p:spPr>
          <a:xfrm>
            <a:off x="7512099" y="4836369"/>
            <a:ext cx="1593706" cy="2308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Predict today, save Tomorrow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3474" y="479078"/>
            <a:ext cx="3796457" cy="296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Our Solution — PredictaShelf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533474" y="883965"/>
            <a:ext cx="5105251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 AI-powered system that predicts expiry, classifies safety, and alerts users — all in one smart dashboard.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693465" y="1375246"/>
            <a:ext cx="2127796" cy="106635"/>
          </a:xfrm>
          <a:prstGeom prst="roundRect">
            <a:avLst>
              <a:gd name="adj" fmla="val 42028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3474" y="1268499"/>
            <a:ext cx="320055" cy="320055"/>
          </a:xfrm>
          <a:prstGeom prst="roundRect">
            <a:avLst>
              <a:gd name="adj" fmla="val 89282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110" y="1660922"/>
            <a:ext cx="1185565" cy="14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Expiry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0110" y="1852464"/>
            <a:ext cx="2074590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2000"/>
              </a:lnSpc>
            </a:pPr>
            <a:r>
              <a:rPr lang="en-US" sz="800" dirty="0" smtClean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Predict temperature </a:t>
            </a:r>
            <a:r>
              <a:rPr lang="en-US" sz="800" dirty="0" smtClean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remaining </a:t>
            </a: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shelf life using product type</a:t>
            </a:r>
            <a:r>
              <a:rPr lang="en-US" sz="800" dirty="0" smtClean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,, </a:t>
            </a: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and humidity data.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053655" y="1215256"/>
            <a:ext cx="2127796" cy="106635"/>
          </a:xfrm>
          <a:prstGeom prst="roundRect">
            <a:avLst>
              <a:gd name="adj" fmla="val 42028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93665" y="1108509"/>
            <a:ext cx="320055" cy="320055"/>
          </a:xfrm>
          <a:prstGeom prst="roundRect">
            <a:avLst>
              <a:gd name="adj" fmla="val 89282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3660" y="1188579"/>
            <a:ext cx="159990" cy="1599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00301" y="1500932"/>
            <a:ext cx="1185565" cy="14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Safety Classification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3000301" y="1692473"/>
            <a:ext cx="2074590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Labels every item as </a:t>
            </a:r>
            <a:r>
              <a:rPr lang="en-US" sz="8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Safe</a:t>
            </a: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</a:t>
            </a:r>
            <a:r>
              <a:rPr lang="en-US" sz="8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Near-Expiry</a:t>
            </a: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, or </a:t>
            </a:r>
            <a:r>
              <a:rPr lang="en-US" sz="8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Expired</a:t>
            </a: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using ML classification.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93465" y="2584624"/>
            <a:ext cx="2127796" cy="106635"/>
          </a:xfrm>
          <a:prstGeom prst="roundRect">
            <a:avLst>
              <a:gd name="adj" fmla="val 42028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33474" y="2477877"/>
            <a:ext cx="320055" cy="320055"/>
          </a:xfrm>
          <a:prstGeom prst="roundRect">
            <a:avLst>
              <a:gd name="adj" fmla="val 89282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70" y="2557946"/>
            <a:ext cx="159990" cy="1599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110" y="2870299"/>
            <a:ext cx="1185565" cy="14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Smart Alerts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40110" y="3061841"/>
            <a:ext cx="2074590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 smtClean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Notifies users before items expire via push notifications and dashboard warnings.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3053655" y="2424633"/>
            <a:ext cx="2127796" cy="106635"/>
          </a:xfrm>
          <a:prstGeom prst="roundRect">
            <a:avLst>
              <a:gd name="adj" fmla="val 42028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893665" y="2317886"/>
            <a:ext cx="320055" cy="320055"/>
          </a:xfrm>
          <a:prstGeom prst="roundRect">
            <a:avLst>
              <a:gd name="adj" fmla="val 89282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000301" y="2710309"/>
            <a:ext cx="1185565" cy="14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AI Core Engine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3000301" y="2901851"/>
            <a:ext cx="2074590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Five ML models work in tandem — regression, classification, and clustering — for end-to-end intelligence.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693465" y="3794001"/>
            <a:ext cx="2127796" cy="106635"/>
          </a:xfrm>
          <a:prstGeom prst="roundRect">
            <a:avLst>
              <a:gd name="adj" fmla="val 42028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33474" y="3687254"/>
            <a:ext cx="320055" cy="320055"/>
          </a:xfrm>
          <a:prstGeom prst="roundRect">
            <a:avLst>
              <a:gd name="adj" fmla="val 89282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40110" y="4079677"/>
            <a:ext cx="1185565" cy="148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Product Grouping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40110" y="4271218"/>
            <a:ext cx="2074590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Clusters similar products for smart storage optimization and batch expiry alerts.</a:t>
            </a:r>
            <a:endParaRPr lang="en-US" sz="800" dirty="0"/>
          </a:p>
        </p:txBody>
      </p:sp>
      <p:sp>
        <p:nvSpPr>
          <p:cNvPr id="27" name="Rectangle 26"/>
          <p:cNvSpPr/>
          <p:nvPr/>
        </p:nvSpPr>
        <p:spPr>
          <a:xfrm>
            <a:off x="7512099" y="4875555"/>
            <a:ext cx="1593706" cy="2308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Predict today, save Tomorrow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917" y="540321"/>
            <a:ext cx="3456682" cy="374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System Architecture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24917" y="1146721"/>
            <a:ext cx="855136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PredictaShelf follows a clean, end-to-end data pipeline — from raw user input to intelligent, actionable output on the dashboard.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917" y="1607790"/>
            <a:ext cx="2231157" cy="22311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5961" y="3969172"/>
            <a:ext cx="1728341" cy="1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User Input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992" y="1607790"/>
            <a:ext cx="2230413" cy="22304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98664" y="3968428"/>
            <a:ext cx="1728341" cy="1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ML Modls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0248" y="1607790"/>
            <a:ext cx="2230413" cy="223041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10920" y="3968428"/>
            <a:ext cx="1728341" cy="187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524917" y="4402485"/>
            <a:ext cx="8551366" cy="20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Each stage is powered by a dedicated ML model, ensuring accurate predictions, and an intuitive visual interface for both household and retail users.</a:t>
            </a:r>
            <a:endParaRPr lang="en-US" sz="1050" dirty="0"/>
          </a:p>
        </p:txBody>
      </p:sp>
      <p:sp>
        <p:nvSpPr>
          <p:cNvPr id="11" name="Rectangle 10"/>
          <p:cNvSpPr/>
          <p:nvPr/>
        </p:nvSpPr>
        <p:spPr>
          <a:xfrm>
            <a:off x="7512099" y="4836369"/>
            <a:ext cx="1593706" cy="2308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Predict today, save Tomorrow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0664" y="1106388"/>
            <a:ext cx="6960394" cy="437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Machine Learning Models —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64" y="1858119"/>
            <a:ext cx="1478831" cy="9139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0664" y="2968749"/>
            <a:ext cx="1748358" cy="21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Linear Regression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50664" y="3281660"/>
            <a:ext cx="2549723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Predicts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days remaining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until expiry using temperature, humidity, and product type.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064" y="1858119"/>
            <a:ext cx="1478831" cy="9139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7064" y="2968749"/>
            <a:ext cx="1748358" cy="21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97064" y="3281660"/>
            <a:ext cx="2549798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Classifies items as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Safe (1)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or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Unsafe (0)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using a sigmoid probability threshold.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538" y="1858119"/>
            <a:ext cx="1478831" cy="9139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3538" y="2968749"/>
            <a:ext cx="1748358" cy="218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K-Means Clustering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3538" y="3281660"/>
            <a:ext cx="2549798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Groups similar products for </a:t>
            </a:r>
            <a:r>
              <a:rPr lang="en-US" sz="120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smart storage</a:t>
            </a:r>
            <a:r>
              <a:rPr lang="en-US" sz="120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and batch expiry recommendations.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7512099" y="4836369"/>
            <a:ext cx="1593706" cy="2308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Predict today, save Tomorrow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74" y="448345"/>
            <a:ext cx="7513960" cy="3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Model Deep Dive — Regression &amp; Classification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3474" y="1143372"/>
            <a:ext cx="1251645" cy="256133"/>
          </a:xfrm>
          <a:prstGeom prst="roundRect">
            <a:avLst>
              <a:gd name="adj" fmla="val 17997"/>
            </a:avLst>
          </a:prstGeom>
          <a:noFill/>
          <a:ln w="4763">
            <a:solidFill>
              <a:srgbClr val="A95B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0539" y="1189286"/>
            <a:ext cx="15347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01 · LINEAR REGRESSION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33474" y="1447279"/>
            <a:ext cx="19814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Expiry Prediction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474" y="1757362"/>
            <a:ext cx="3871168" cy="1037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Inputs:</a:t>
            </a: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Product type, temperature (°C), humidity (%), storage conditions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Formula:</a:t>
            </a: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Y = β₀ + β₁X₁ + β₂X₂ + … + ε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Output:</a:t>
            </a: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Days remaining until expiry + confidence interval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79215" y="3082751"/>
            <a:ext cx="3288283" cy="410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44120" y="1143372"/>
            <a:ext cx="1346597" cy="256133"/>
          </a:xfrm>
          <a:prstGeom prst="roundRect">
            <a:avLst>
              <a:gd name="adj" fmla="val 17997"/>
            </a:avLst>
          </a:prstGeom>
          <a:noFill/>
          <a:ln w="4763">
            <a:solidFill>
              <a:srgbClr val="A95B9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31184" y="1189286"/>
            <a:ext cx="16296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A95B95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02 · LOGISTIC REGRESSION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44120" y="1447279"/>
            <a:ext cx="249770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6BFEE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Safe / Unsafe Classification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44120" y="1757362"/>
            <a:ext cx="3871168" cy="518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Sigmoid Function:</a:t>
            </a: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P(y=1) = 1 / (1 + e^(−z))</a:t>
            </a:r>
            <a:endParaRPr lang="en-US" sz="105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Threshold </a:t>
            </a:r>
            <a:r>
              <a:rPr lang="en-US" sz="1050" b="1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0.5</a:t>
            </a: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 determines the final classification label.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3474" y="3938885"/>
            <a:ext cx="8077051" cy="756270"/>
          </a:xfrm>
          <a:prstGeom prst="roundRect">
            <a:avLst>
              <a:gd name="adj" fmla="val 7619"/>
            </a:avLst>
          </a:prstGeom>
          <a:solidFill>
            <a:srgbClr val="542C49"/>
          </a:solidFill>
          <a:ln w="4763">
            <a:solidFill>
              <a:srgbClr val="6D456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8237" y="3937117"/>
            <a:ext cx="4033763" cy="746745"/>
          </a:xfrm>
          <a:prstGeom prst="roundRect">
            <a:avLst>
              <a:gd name="adj" fmla="val 7716"/>
            </a:avLst>
          </a:prstGeom>
          <a:solidFill>
            <a:srgbClr val="542C49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16" name="Text 13"/>
          <p:cNvSpPr/>
          <p:nvPr/>
        </p:nvSpPr>
        <p:spPr>
          <a:xfrm>
            <a:off x="675382" y="4080793"/>
            <a:ext cx="152429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✅</a:t>
            </a: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SAFE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5382" y="4347790"/>
            <a:ext cx="3759473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Sufficient shelf life. Safe to consume.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0" y="3943648"/>
            <a:ext cx="4033763" cy="746745"/>
          </a:xfrm>
          <a:prstGeom prst="rect">
            <a:avLst/>
          </a:prstGeom>
          <a:solidFill>
            <a:srgbClr val="542C49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sp>
      <p:sp>
        <p:nvSpPr>
          <p:cNvPr id="19" name="Shape 16"/>
          <p:cNvSpPr/>
          <p:nvPr/>
        </p:nvSpPr>
        <p:spPr>
          <a:xfrm>
            <a:off x="4572000" y="3943648"/>
            <a:ext cx="19050" cy="746745"/>
          </a:xfrm>
          <a:prstGeom prst="roundRect">
            <a:avLst>
              <a:gd name="adj" fmla="val 302472"/>
            </a:avLst>
          </a:prstGeom>
          <a:solidFill>
            <a:srgbClr val="6D4562"/>
          </a:solidFill>
          <a:ln/>
        </p:spPr>
      </p:sp>
      <p:sp>
        <p:nvSpPr>
          <p:cNvPr id="20" name="Text 17"/>
          <p:cNvSpPr/>
          <p:nvPr/>
        </p:nvSpPr>
        <p:spPr>
          <a:xfrm>
            <a:off x="4709145" y="4080793"/>
            <a:ext cx="1524298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⚠️</a:t>
            </a:r>
            <a:r>
              <a:rPr lang="en-US" sz="1200" dirty="0">
                <a:solidFill>
                  <a:srgbClr val="DAD8E9"/>
                </a:solidFill>
                <a:latin typeface="Prompt Medium" pitchFamily="34" charset="0"/>
                <a:ea typeface="Prompt Medium" pitchFamily="34" charset="-122"/>
                <a:cs typeface="Prompt Medium" pitchFamily="34" charset="-120"/>
              </a:rPr>
              <a:t> UNSAFE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09145" y="4347790"/>
            <a:ext cx="3759473" cy="205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50" dirty="0">
                <a:solidFill>
                  <a:srgbClr val="DAD8E9"/>
                </a:solidFill>
                <a:latin typeface="Mukta Light" pitchFamily="34" charset="0"/>
                <a:ea typeface="Mukta Light" pitchFamily="34" charset="-122"/>
                <a:cs typeface="Mukta Light" pitchFamily="34" charset="-120"/>
              </a:rPr>
              <a:t>Expired or critical. Alert triggered.</a:t>
            </a:r>
            <a:endParaRPr lang="en-US" sz="1050" dirty="0"/>
          </a:p>
        </p:txBody>
      </p:sp>
      <p:sp>
        <p:nvSpPr>
          <p:cNvPr id="23" name="Rectangle 22"/>
          <p:cNvSpPr/>
          <p:nvPr/>
        </p:nvSpPr>
        <p:spPr>
          <a:xfrm>
            <a:off x="7512099" y="4836369"/>
            <a:ext cx="1593706" cy="23083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sz="9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Predict today, save Tomorrow</a:t>
            </a:r>
            <a:endParaRPr lang="en-US" sz="9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544</Words>
  <Application>Microsoft Office PowerPoint</Application>
  <PresentationFormat>On-screen Show (16:9)</PresentationFormat>
  <Paragraphs>77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Prompt Medium</vt:lpstr>
      <vt:lpstr>Mukta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6</cp:revision>
  <dcterms:created xsi:type="dcterms:W3CDTF">2026-05-24T10:59:07Z</dcterms:created>
  <dcterms:modified xsi:type="dcterms:W3CDTF">2026-05-24T12:23:36Z</dcterms:modified>
</cp:coreProperties>
</file>